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554480"/>
            <a:ext cx="4206240" cy="4206240"/>
          </a:xfrm>
          <a:prstGeom prst="ellipse">
            <a:avLst/>
          </a:prstGeom>
          <a:ln w="12700">
            <a:solidFill>
              <a:srgbClr val="232C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480000">
            <a:off x="9905695" y="4754880"/>
            <a:ext cx="3017520" cy="2651760"/>
          </a:xfrm>
          <a:prstGeom prst="triangle">
            <a:avLst/>
          </a:prstGeom>
          <a:ln w="12700">
            <a:solidFill>
              <a:srgbClr val="232C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502920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22376" y="585216"/>
            <a:ext cx="146304" cy="146304"/>
          </a:xfrm>
          <a:prstGeom prst="ellipse">
            <a:avLst/>
          </a:prstGeom>
          <a:solidFill>
            <a:srgbClr val="DD8A3E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4572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Peerly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Anonymous Peer Support.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by </a:t>
            </a:r>
            <a:pPr algn="ctr" indent="0" marL="0">
              <a:buNone/>
            </a:pPr>
            <a:r>
              <a:rPr lang="en-US" sz="3000" b="1" dirty="0">
                <a:solidFill>
                  <a:srgbClr val="DD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University.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965960" y="3611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Peerly is a secure peer-support platform for first-year university students — anonymous guidance from verified senior mentors, without compromising privacy.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5989320"/>
            <a:ext cx="10911535" cy="0"/>
          </a:xfrm>
          <a:prstGeom prst="line">
            <a:avLst/>
          </a:prstGeom>
          <a:noFill/>
          <a:ln w="12700">
            <a:solidFill>
              <a:srgbClr val="232C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6172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Chandigarh University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89120" y="6172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Health Awareness Platform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59775" y="6172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D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peerly.paanipoorie.com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4480560"/>
            <a:ext cx="3840480" cy="3840480"/>
          </a:xfrm>
          <a:prstGeom prst="ellipse">
            <a:avLst/>
          </a:prstGeom>
          <a:ln w="12700">
            <a:solidFill>
              <a:srgbClr val="232C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457200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22376" y="539496"/>
            <a:ext cx="146304" cy="146304"/>
          </a:xfrm>
          <a:prstGeom prst="ellipse">
            <a:avLst/>
          </a:prstGeom>
          <a:solidFill>
            <a:srgbClr val="DD8A3E"/>
          </a:solidFill>
          <a:ln/>
        </p:spPr>
      </p:sp>
      <p:sp>
        <p:nvSpPr>
          <p:cNvPr id="5" name="Text 3"/>
          <p:cNvSpPr/>
          <p:nvPr/>
        </p:nvSpPr>
        <p:spPr>
          <a:xfrm>
            <a:off x="1078992" y="41148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Peerly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D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students stay silent.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5272888" cy="1417320"/>
          </a:xfrm>
          <a:prstGeom prst="roundRect">
            <a:avLst>
              <a:gd name="adj" fmla="val 7742"/>
            </a:avLst>
          </a:prstGeom>
          <a:solidFill>
            <a:srgbClr val="161D2C"/>
          </a:solidFill>
          <a:ln w="12700">
            <a:solidFill>
              <a:srgbClr val="232C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4963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D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83464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Pressure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20040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experience increased academic stress while transitioning into university.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78728" y="2331720"/>
            <a:ext cx="5272888" cy="1417320"/>
          </a:xfrm>
          <a:prstGeom prst="roundRect">
            <a:avLst>
              <a:gd name="adj" fmla="val 7742"/>
            </a:avLst>
          </a:prstGeom>
          <a:solidFill>
            <a:srgbClr val="161D2C"/>
          </a:solidFill>
          <a:ln w="12700">
            <a:solidFill>
              <a:srgbClr val="232C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53048" y="24963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D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53048" y="283464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Loneliness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53048" y="320040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first-year students struggle to build meaningful social connections.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5272888" cy="1417320"/>
          </a:xfrm>
          <a:prstGeom prst="roundRect">
            <a:avLst>
              <a:gd name="adj" fmla="val 7742"/>
            </a:avLst>
          </a:prstGeom>
          <a:solidFill>
            <a:srgbClr val="161D2C"/>
          </a:solidFill>
          <a:ln w="12700">
            <a:solidFill>
              <a:srgbClr val="232C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1879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D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452628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 of Judgment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89204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hesitate to seek help because of stigma or fear of being recognized.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78728" y="4023360"/>
            <a:ext cx="5272888" cy="1417320"/>
          </a:xfrm>
          <a:prstGeom prst="roundRect">
            <a:avLst>
              <a:gd name="adj" fmla="val 7742"/>
            </a:avLst>
          </a:prstGeom>
          <a:solidFill>
            <a:srgbClr val="161D2C"/>
          </a:solidFill>
          <a:ln w="12700">
            <a:solidFill>
              <a:srgbClr val="232C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53048" y="41879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D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53048" y="452628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Safe Communication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53048" y="489204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channels rarely provide both anonymity and trusted mentorship.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589788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don't always need more information.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need a safe place to ask for help.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0">
            <a:off x="10271455" y="-914400"/>
            <a:ext cx="2377440" cy="2194560"/>
          </a:xfrm>
          <a:prstGeom prst="triangle">
            <a:avLst/>
          </a:prstGeom>
          <a:ln w="12700">
            <a:solidFill>
              <a:srgbClr val="232C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457200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22376" y="539496"/>
            <a:ext cx="146304" cy="146304"/>
          </a:xfrm>
          <a:prstGeom prst="ellipse">
            <a:avLst/>
          </a:prstGeom>
          <a:solidFill>
            <a:srgbClr val="DD8A3E"/>
          </a:solidFill>
          <a:ln/>
        </p:spPr>
      </p:sp>
      <p:sp>
        <p:nvSpPr>
          <p:cNvPr id="5" name="Text 3"/>
          <p:cNvSpPr/>
          <p:nvPr/>
        </p:nvSpPr>
        <p:spPr>
          <a:xfrm>
            <a:off x="1078992" y="41148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Peerly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D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Conversations. Real Support. </a:t>
            </a:r>
            <a:pPr algn="l" indent="0" marL="0">
              <a:buNone/>
            </a:pPr>
            <a:r>
              <a:rPr lang="en-US" sz="2600" b="1" dirty="0">
                <a:solidFill>
                  <a:srgbClr val="DD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Anonymously Yours.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2522144" cy="1691640"/>
          </a:xfrm>
          <a:prstGeom prst="roundRect">
            <a:avLst>
              <a:gd name="adj" fmla="val 6486"/>
            </a:avLst>
          </a:prstGeom>
          <a:solidFill>
            <a:srgbClr val="161D2C"/>
          </a:solidFill>
          <a:ln w="12700">
            <a:solidFill>
              <a:srgbClr val="232C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2587752"/>
            <a:ext cx="109728" cy="109728"/>
          </a:xfrm>
          <a:prstGeom prst="ellipse">
            <a:avLst/>
          </a:prstGeom>
          <a:solidFill>
            <a:srgbClr val="DD8A3E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834640"/>
            <a:ext cx="201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Anonymous Identity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96112" y="3319272"/>
            <a:ext cx="201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interact using anonymous identities while personal information stays protected.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36544" y="2331720"/>
            <a:ext cx="2522144" cy="1691640"/>
          </a:xfrm>
          <a:prstGeom prst="roundRect">
            <a:avLst>
              <a:gd name="adj" fmla="val 6486"/>
            </a:avLst>
          </a:prstGeom>
          <a:solidFill>
            <a:srgbClr val="161D2C"/>
          </a:solidFill>
          <a:ln w="12700">
            <a:solidFill>
              <a:srgbClr val="232C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92576" y="2587752"/>
            <a:ext cx="109728" cy="109728"/>
          </a:xfrm>
          <a:prstGeom prst="ellipse">
            <a:avLst/>
          </a:prstGeom>
          <a:solidFill>
            <a:srgbClr val="DD8A3E"/>
          </a:solidFill>
          <a:ln/>
        </p:spPr>
      </p:sp>
      <p:sp>
        <p:nvSpPr>
          <p:cNvPr id="14" name="Text 12"/>
          <p:cNvSpPr/>
          <p:nvPr/>
        </p:nvSpPr>
        <p:spPr>
          <a:xfrm>
            <a:off x="3692576" y="2834640"/>
            <a:ext cx="201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Peer Mentors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92576" y="3319272"/>
            <a:ext cx="201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mentor is verified through the university before assisting students.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3008" y="2331720"/>
            <a:ext cx="2522144" cy="1691640"/>
          </a:xfrm>
          <a:prstGeom prst="roundRect">
            <a:avLst>
              <a:gd name="adj" fmla="val 6486"/>
            </a:avLst>
          </a:prstGeom>
          <a:solidFill>
            <a:srgbClr val="161D2C"/>
          </a:solidFill>
          <a:ln w="12700">
            <a:solidFill>
              <a:srgbClr val="232C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89040" y="2587752"/>
            <a:ext cx="109728" cy="109728"/>
          </a:xfrm>
          <a:prstGeom prst="ellipse">
            <a:avLst/>
          </a:prstGeom>
          <a:solidFill>
            <a:srgbClr val="DD8A3E"/>
          </a:solidFill>
          <a:ln/>
        </p:spPr>
      </p:sp>
      <p:sp>
        <p:nvSpPr>
          <p:cNvPr id="18" name="Text 16"/>
          <p:cNvSpPr/>
          <p:nvPr/>
        </p:nvSpPr>
        <p:spPr>
          <a:xfrm>
            <a:off x="6489040" y="2834640"/>
            <a:ext cx="201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Peer Support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89040" y="3319272"/>
            <a:ext cx="201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one-to-one conversations encourage honest, open discussions.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29471" y="2331720"/>
            <a:ext cx="2522144" cy="1691640"/>
          </a:xfrm>
          <a:prstGeom prst="roundRect">
            <a:avLst>
              <a:gd name="adj" fmla="val 6486"/>
            </a:avLst>
          </a:prstGeom>
          <a:solidFill>
            <a:srgbClr val="161D2C"/>
          </a:solidFill>
          <a:ln w="12700">
            <a:solidFill>
              <a:srgbClr val="232C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85503" y="2587752"/>
            <a:ext cx="109728" cy="109728"/>
          </a:xfrm>
          <a:prstGeom prst="ellipse">
            <a:avLst/>
          </a:prstGeom>
          <a:solidFill>
            <a:srgbClr val="DD8A3E"/>
          </a:solidFill>
          <a:ln/>
        </p:spPr>
      </p:sp>
      <p:sp>
        <p:nvSpPr>
          <p:cNvPr id="22" name="Text 20"/>
          <p:cNvSpPr/>
          <p:nvPr/>
        </p:nvSpPr>
        <p:spPr>
          <a:xfrm>
            <a:off x="9285503" y="2834640"/>
            <a:ext cx="201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Community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285503" y="3319272"/>
            <a:ext cx="201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Discussions, meetings, workshops, and shared resources build a connected ecosystem.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" y="4434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D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983480"/>
            <a:ext cx="1605229" cy="914400"/>
          </a:xfrm>
          <a:prstGeom prst="roundRect">
            <a:avLst>
              <a:gd name="adj" fmla="val 10000"/>
            </a:avLst>
          </a:prstGeom>
          <a:solidFill>
            <a:srgbClr val="DD8A3E"/>
          </a:solidFill>
          <a:ln w="12700">
            <a:solidFill>
              <a:srgbClr val="DD8A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983480"/>
            <a:ext cx="15137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245309" y="498348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501341" y="4983480"/>
            <a:ext cx="1605229" cy="914400"/>
          </a:xfrm>
          <a:prstGeom prst="roundRect">
            <a:avLst>
              <a:gd name="adj" fmla="val 10000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47061" y="4983480"/>
            <a:ext cx="15137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106570" y="498348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362602" y="4983480"/>
            <a:ext cx="1605229" cy="914400"/>
          </a:xfrm>
          <a:prstGeom prst="roundRect">
            <a:avLst>
              <a:gd name="adj" fmla="val 10000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08322" y="4983480"/>
            <a:ext cx="15137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Anonymous Identity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967832" y="498348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223864" y="4983480"/>
            <a:ext cx="1605229" cy="914400"/>
          </a:xfrm>
          <a:prstGeom prst="roundRect">
            <a:avLst>
              <a:gd name="adj" fmla="val 10000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9584" y="4983480"/>
            <a:ext cx="15137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Peerly Platform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829093" y="498348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085125" y="4983480"/>
            <a:ext cx="1605229" cy="914400"/>
          </a:xfrm>
          <a:prstGeom prst="roundRect">
            <a:avLst>
              <a:gd name="adj" fmla="val 10000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30845" y="4983480"/>
            <a:ext cx="15137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Mentor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690354" y="498348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946386" y="4983480"/>
            <a:ext cx="1605229" cy="914400"/>
          </a:xfrm>
          <a:prstGeom prst="roundRect">
            <a:avLst>
              <a:gd name="adj" fmla="val 10000"/>
            </a:avLst>
          </a:prstGeom>
          <a:solidFill>
            <a:srgbClr val="DD8A3E"/>
          </a:solidFill>
          <a:ln w="12700">
            <a:solidFill>
              <a:srgbClr val="DD8A3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992106" y="4983480"/>
            <a:ext cx="15137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-1005840" y="5120640"/>
            <a:ext cx="2377440" cy="2377440"/>
          </a:xfrm>
          <a:prstGeom prst="rect">
            <a:avLst/>
          </a:prstGeom>
          <a:ln w="12700">
            <a:solidFill>
              <a:srgbClr val="232C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457200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22376" y="539496"/>
            <a:ext cx="146304" cy="146304"/>
          </a:xfrm>
          <a:prstGeom prst="ellipse">
            <a:avLst/>
          </a:prstGeom>
          <a:solidFill>
            <a:srgbClr val="DD8A3E"/>
          </a:solidFill>
          <a:ln/>
        </p:spPr>
      </p:sp>
      <p:sp>
        <p:nvSpPr>
          <p:cNvPr id="5" name="Text 3"/>
          <p:cNvSpPr/>
          <p:nvPr/>
        </p:nvSpPr>
        <p:spPr>
          <a:xfrm>
            <a:off x="1078992" y="41148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Peerly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1005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D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ECOSYSTEM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platform, three roles.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3423818" cy="1965960"/>
          </a:xfrm>
          <a:prstGeom prst="roundRect">
            <a:avLst>
              <a:gd name="adj" fmla="val 5581"/>
            </a:avLst>
          </a:prstGeom>
          <a:solidFill>
            <a:srgbClr val="161D2C"/>
          </a:solidFill>
          <a:ln w="12700">
            <a:solidFill>
              <a:srgbClr val="232C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96112" y="2286000"/>
            <a:ext cx="29117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2724912"/>
            <a:ext cx="291175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Anonymous discussions</a:t>
            </a:r>
            <a:endParaRPr lang="en-US" sz="1050" dirty="0"/>
          </a:p>
          <a:p>
            <a:pPr algn="l" marL="152400" indent="-1524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 support</a:t>
            </a:r>
            <a:endParaRPr lang="en-US" sz="1050" dirty="0"/>
          </a:p>
          <a:p>
            <a:pPr algn="l" marL="152400" indent="-1524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1050" dirty="0"/>
          </a:p>
          <a:p>
            <a:pPr algn="l" marL="152400" indent="-1524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63898" y="2103120"/>
            <a:ext cx="320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83938" y="2103120"/>
            <a:ext cx="3423818" cy="1965960"/>
          </a:xfrm>
          <a:prstGeom prst="roundRect">
            <a:avLst>
              <a:gd name="adj" fmla="val 5581"/>
            </a:avLst>
          </a:prstGeom>
          <a:solidFill>
            <a:srgbClr val="1C1408"/>
          </a:solidFill>
          <a:ln w="12700">
            <a:solidFill>
              <a:srgbClr val="DD8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39970" y="2286000"/>
            <a:ext cx="29117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D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Peerly Platform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39970" y="2724912"/>
            <a:ext cx="291175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student &amp; mentor</a:t>
            </a:r>
            <a:endParaRPr lang="en-US" sz="1050" dirty="0"/>
          </a:p>
          <a:p>
            <a:pPr algn="l" marL="152400" indent="-1524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Secures every conversation</a:t>
            </a:r>
            <a:endParaRPr lang="en-US" sz="1050" dirty="0"/>
          </a:p>
          <a:p>
            <a:pPr algn="l" marL="152400" indent="-1524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 the community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07757" y="2103120"/>
            <a:ext cx="320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27797" y="2103120"/>
            <a:ext cx="3423818" cy="1965960"/>
          </a:xfrm>
          <a:prstGeom prst="roundRect">
            <a:avLst>
              <a:gd name="adj" fmla="val 5581"/>
            </a:avLst>
          </a:prstGeom>
          <a:solidFill>
            <a:srgbClr val="161D2C"/>
          </a:solidFill>
          <a:ln w="12700">
            <a:solidFill>
              <a:srgbClr val="232C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83829" y="2286000"/>
            <a:ext cx="29117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83829" y="2724912"/>
            <a:ext cx="291175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identity</a:t>
            </a:r>
            <a:endParaRPr lang="en-US" sz="1050" dirty="0"/>
          </a:p>
          <a:p>
            <a:pPr algn="l" marL="152400" indent="-1524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conversations</a:t>
            </a:r>
            <a:endParaRPr lang="en-US" sz="1050" dirty="0"/>
          </a:p>
          <a:p>
            <a:pPr algn="l" marL="152400" indent="-1524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guidance</a:t>
            </a:r>
            <a:endParaRPr lang="en-US" sz="1050" dirty="0"/>
          </a:p>
          <a:p>
            <a:pPr algn="l" marL="152400" indent="-1524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hosting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343400"/>
            <a:ext cx="10911535" cy="594360"/>
          </a:xfrm>
          <a:prstGeom prst="roundRect">
            <a:avLst>
              <a:gd name="adj" fmla="val 18462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4343400"/>
            <a:ext cx="10454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   </a:t>
            </a:r>
            <a:pPr algn="l" indent="0" marL="0">
              <a:buNone/>
            </a:pPr>
            <a:r>
              <a:rPr lang="en-US" sz="10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 verification  ·  Community moderation  ·  Resource management  ·  Analytics  ·  Platform operations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8368" y="5166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D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504688"/>
            <a:ext cx="1605686" cy="329184"/>
          </a:xfrm>
          <a:prstGeom prst="roundRect">
            <a:avLst>
              <a:gd name="adj" fmla="val 50000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504688"/>
            <a:ext cx="16056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Anonymous Identity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392070" y="5504688"/>
            <a:ext cx="1830629" cy="329184"/>
          </a:xfrm>
          <a:prstGeom prst="roundRect">
            <a:avLst>
              <a:gd name="adj" fmla="val 50000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92070" y="5504688"/>
            <a:ext cx="1830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Authentication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369003" y="5504688"/>
            <a:ext cx="1530706" cy="329184"/>
          </a:xfrm>
          <a:prstGeom prst="roundRect">
            <a:avLst>
              <a:gd name="adj" fmla="val 50000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69003" y="5504688"/>
            <a:ext cx="15307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46013" y="5504688"/>
            <a:ext cx="1080821" cy="329184"/>
          </a:xfrm>
          <a:prstGeom prst="roundRect">
            <a:avLst>
              <a:gd name="adj" fmla="val 50000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46013" y="5504688"/>
            <a:ext cx="108082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273138" y="5504688"/>
            <a:ext cx="1155802" cy="329184"/>
          </a:xfrm>
          <a:prstGeom prst="roundRect">
            <a:avLst>
              <a:gd name="adj" fmla="val 50000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73138" y="5504688"/>
            <a:ext cx="11558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Chat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575243" y="5504688"/>
            <a:ext cx="855878" cy="329184"/>
          </a:xfrm>
          <a:prstGeom prst="roundRect">
            <a:avLst>
              <a:gd name="adj" fmla="val 50000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75243" y="5504688"/>
            <a:ext cx="8558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577426" y="5504688"/>
            <a:ext cx="930859" cy="329184"/>
          </a:xfrm>
          <a:prstGeom prst="roundRect">
            <a:avLst>
              <a:gd name="adj" fmla="val 50000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77426" y="5504688"/>
            <a:ext cx="9308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0080" y="5961888"/>
            <a:ext cx="1230782" cy="329184"/>
          </a:xfrm>
          <a:prstGeom prst="roundRect">
            <a:avLst>
              <a:gd name="adj" fmla="val 50000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5961888"/>
            <a:ext cx="12307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017166" y="5961888"/>
            <a:ext cx="1155802" cy="329184"/>
          </a:xfrm>
          <a:prstGeom prst="roundRect">
            <a:avLst>
              <a:gd name="adj" fmla="val 50000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17166" y="5961888"/>
            <a:ext cx="11558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Hub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554480"/>
            <a:ext cx="4206240" cy="4206240"/>
          </a:xfrm>
          <a:prstGeom prst="ellipse">
            <a:avLst/>
          </a:prstGeom>
          <a:ln w="12700">
            <a:solidFill>
              <a:srgbClr val="232C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480000">
            <a:off x="9905695" y="4754880"/>
            <a:ext cx="3017520" cy="2651760"/>
          </a:xfrm>
          <a:prstGeom prst="triangle">
            <a:avLst/>
          </a:prstGeom>
          <a:ln w="12700">
            <a:solidFill>
              <a:srgbClr val="232C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457200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22376" y="539496"/>
            <a:ext cx="146304" cy="146304"/>
          </a:xfrm>
          <a:prstGeom prst="ellipse">
            <a:avLst/>
          </a:prstGeom>
          <a:solidFill>
            <a:srgbClr val="DD8A3E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41148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Peerly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D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Better Student Community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40080" y="1965960"/>
            <a:ext cx="3423818" cy="1097280"/>
          </a:xfrm>
          <a:prstGeom prst="roundRect">
            <a:avLst>
              <a:gd name="adj" fmla="val 10000"/>
            </a:avLst>
          </a:prstGeom>
          <a:solidFill>
            <a:srgbClr val="161D2C"/>
          </a:solidFill>
          <a:ln w="12700">
            <a:solidFill>
              <a:srgbClr val="232C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96112" y="2130552"/>
            <a:ext cx="29117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DD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96112" y="2496312"/>
            <a:ext cx="29117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share concerns without ever revealing their identity.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83938" y="1965960"/>
            <a:ext cx="3423818" cy="1097280"/>
          </a:xfrm>
          <a:prstGeom prst="roundRect">
            <a:avLst>
              <a:gd name="adj" fmla="val 10000"/>
            </a:avLst>
          </a:prstGeom>
          <a:solidFill>
            <a:srgbClr val="161D2C"/>
          </a:solidFill>
          <a:ln w="12700">
            <a:solidFill>
              <a:srgbClr val="232C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39970" y="2130552"/>
            <a:ext cx="29117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DD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39970" y="2496312"/>
            <a:ext cx="29117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senior mentors provide trusted, one-to-one guidance.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27797" y="1965960"/>
            <a:ext cx="3423818" cy="1097280"/>
          </a:xfrm>
          <a:prstGeom prst="roundRect">
            <a:avLst>
              <a:gd name="adj" fmla="val 10000"/>
            </a:avLst>
          </a:prstGeom>
          <a:solidFill>
            <a:srgbClr val="161D2C"/>
          </a:solidFill>
          <a:ln w="12700">
            <a:solidFill>
              <a:srgbClr val="232C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83829" y="2130552"/>
            <a:ext cx="29117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DD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383829" y="2496312"/>
            <a:ext cx="29117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healthier campus culture built on empathy and access.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D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6576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Anonymous Discussions</a:t>
            </a:r>
            <a:endParaRPr lang="en-US" sz="10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Mentor Chat</a:t>
            </a:r>
            <a:endParaRPr lang="en-US" sz="10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Events</a:t>
            </a:r>
            <a:endParaRPr lang="en-US" sz="10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Workshops</a:t>
            </a:r>
            <a:endParaRPr lang="en-US" sz="10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Resource Hub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35040" y="36576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C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 Mobile Application</a:t>
            </a:r>
            <a:endParaRPr lang="en-US" sz="10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C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 Push Notifications</a:t>
            </a:r>
            <a:endParaRPr lang="en-US" sz="10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C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 AI-Powered Student Insights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4800600"/>
            <a:ext cx="10911535" cy="0"/>
          </a:xfrm>
          <a:prstGeom prst="line">
            <a:avLst/>
          </a:prstGeom>
          <a:noFill/>
          <a:ln w="12700">
            <a:solidFill>
              <a:srgbClr val="232C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96519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student deserves someone to talk to.</a:t>
            </a:r>
            <a:endParaRPr lang="en-US" sz="1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Peerly makes that conversation possible.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40080" y="63550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D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peerly.paanipoorie.com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2026-08-05T05:29:01Z</dcterms:created>
  <dcterms:modified xsi:type="dcterms:W3CDTF">2026-08-05T05:29:01Z</dcterms:modified>
</cp:coreProperties>
</file>